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72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0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24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2104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0392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4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6968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5669280" cy="82296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-1645920" y="3840480"/>
            <a:ext cx="5120640" cy="512064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-100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71016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350240" y="685800"/>
            <a:ext cx="292608" cy="292608"/>
          </a:xfrm>
          <a:prstGeom prst="ellipse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344400" y="749808"/>
            <a:ext cx="201168" cy="2011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807440" y="228600"/>
            <a:ext cx="164592" cy="164592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5488" y="1170432"/>
            <a:ext cx="3474720" cy="2926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1179576"/>
            <a:ext cx="31821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DATA ANALYTICS PROJECT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160020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i="1" dirty="0">
                <a:solidFill>
                  <a:srgbClr val="708096"/>
                </a:solidFill>
              </a:rPr>
              <a:t>ElectViz: Election Data</a:t>
            </a:r>
            <a:endParaRPr sz="4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6329" y="2208494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i="1" dirty="0">
                <a:solidFill>
                  <a:srgbClr val="0070C0"/>
                </a:solidFill>
              </a:rPr>
              <a:t>Visualization for Media</a:t>
            </a:r>
            <a:endParaRPr sz="4400" b="1" i="0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5488" y="3840480"/>
            <a:ext cx="438912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56048" y="3840480"/>
            <a:ext cx="3474720" cy="4572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3986784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890AA"/>
                </a:solidFill>
                <a:latin typeface="Calibri"/>
              </a:rPr>
              <a:t>Power BI Analytics  ·  Lok Sabha · Vidhan Sabha · Bypoll  ·  1951–2025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1234440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06840" y="1234440"/>
            <a:ext cx="82296" cy="1234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17152" y="13258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77CC"/>
                </a:solidFill>
                <a:latin typeface="Calibri"/>
              </a:rPr>
              <a:t>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19476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90AA"/>
                </a:solidFill>
                <a:latin typeface="Calibri"/>
              </a:rPr>
              <a:t>States &amp; UTs Covered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2624328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06840" y="2624328"/>
            <a:ext cx="82296" cy="1234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17152" y="27157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39C12"/>
                </a:solidFill>
                <a:latin typeface="Calibri"/>
              </a:rPr>
              <a:t>27,415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90AA"/>
                </a:solidFill>
                <a:latin typeface="Calibri"/>
              </a:rPr>
              <a:t>Election Records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4014216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06840" y="4014216"/>
            <a:ext cx="82296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17152" y="410565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27AE60"/>
                </a:solidFill>
                <a:latin typeface="Calibri"/>
              </a:rPr>
              <a:t>1951–2025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47274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90AA"/>
                </a:solidFill>
                <a:latin typeface="Calibri"/>
              </a:rPr>
              <a:t>Year Range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788152"/>
            <a:ext cx="14630400" cy="225856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574243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585216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77CC"/>
                </a:solidFill>
                <a:latin typeface="Calibri"/>
              </a:rPr>
              <a:t>TEAM MEMBERS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181344"/>
            <a:ext cx="2542032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6181344"/>
            <a:ext cx="25420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Hamiz 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K 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(Team Lead)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27832" y="6181344"/>
            <a:ext cx="1389888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27832" y="6181344"/>
            <a:ext cx="13898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Karishma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 N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800600" y="6181344"/>
            <a:ext cx="128016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0060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Vennela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 P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263640" y="6181344"/>
            <a:ext cx="1280160" cy="384048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Aman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 A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726680" y="6181344"/>
            <a:ext cx="1517904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26680" y="6181344"/>
            <a:ext cx="151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Gajavadan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 T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424160" y="5897880"/>
            <a:ext cx="3749039" cy="1481328"/>
          </a:xfrm>
          <a:prstGeom prst="rect">
            <a:avLst/>
          </a:prstGeom>
          <a:solidFill>
            <a:srgbClr val="071226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11480" y="182880"/>
            <a:ext cx="64008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11480" y="800100"/>
            <a:ext cx="288036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6385EDE-9CAD-C2A0-6650-F090FA46D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6407" y="5982965"/>
            <a:ext cx="3096394" cy="12664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" y="12192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C4DE"/>
                </a:solidFill>
                <a:latin typeface="Calibri"/>
              </a:rPr>
              <a:t>Why does the </a:t>
            </a:r>
            <a:r>
              <a:rPr lang="en-IN" sz="1400" b="0" i="0" dirty="0">
                <a:solidFill>
                  <a:srgbClr val="B0C4DE"/>
                </a:solidFill>
                <a:latin typeface="Calibri"/>
              </a:rPr>
              <a:t>dataset</a:t>
            </a:r>
            <a:r>
              <a:rPr sz="1400" b="0" i="0" dirty="0">
                <a:solidFill>
                  <a:srgbClr val="B0C4DE"/>
                </a:solidFill>
                <a:latin typeface="Calibri"/>
              </a:rPr>
              <a:t> need a unified election analytics system?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000" dirty="0">
                <a:solidFill>
                  <a:srgbClr val="708096"/>
                </a:solidFill>
                <a:latin typeface="Calibri"/>
              </a:rPr>
              <a:t>2/18</a:t>
            </a:r>
            <a:r>
              <a:rPr sz="1000" b="0" i="0" dirty="0">
                <a:solidFill>
                  <a:srgbClr val="708096"/>
                </a:solidFill>
                <a:latin typeface="Calibri"/>
              </a:rPr>
              <a:t>2/18</a:t>
            </a:r>
            <a:r>
              <a:rPr lang="en-IN" sz="1000" b="0" i="0" dirty="0">
                <a:solidFill>
                  <a:srgbClr val="708096"/>
                </a:solidFill>
                <a:latin typeface="Calibri"/>
              </a:rPr>
              <a:t>2/18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2230"/>
                </a:solidFill>
                <a:latin typeface="Calibri"/>
              </a:rPr>
              <a:t>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44"/>
                </a:solidFill>
                <a:latin typeface="Calibri"/>
              </a:rPr>
              <a:t>Fragmented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30"/>
                </a:solidFill>
                <a:latin typeface="Calibri"/>
              </a:rPr>
              <a:t>Data spread across 36+ portals, formats, and state archives with no unified access point.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77056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77056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77056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2230"/>
                </a:solidFill>
                <a:latin typeface="Calibri"/>
              </a:rP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44"/>
                </a:solidFill>
                <a:latin typeface="Calibri"/>
              </a:rPr>
              <a:t>Data Inconsistency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30"/>
                </a:solidFill>
                <a:latin typeface="Calibri"/>
              </a:rPr>
              <a:t>Column names, encodings, and abbreviations differ drastically across elections and years.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96912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96912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2230"/>
                </a:solidFill>
                <a:latin typeface="Calibri"/>
              </a:rPr>
              <a:t>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1956816"/>
            <a:ext cx="303580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A1A44"/>
                </a:solidFill>
                <a:latin typeface="Calibri"/>
              </a:rPr>
              <a:t>Not </a:t>
            </a:r>
            <a:r>
              <a:rPr lang="en-IN" sz="1600" b="1" i="0" dirty="0">
                <a:solidFill>
                  <a:srgbClr val="0A1A44"/>
                </a:solidFill>
                <a:latin typeface="Calibri"/>
              </a:rPr>
              <a:t>Media</a:t>
            </a:r>
            <a:r>
              <a:rPr sz="1600" b="1" i="0" dirty="0">
                <a:solidFill>
                  <a:srgbClr val="0A1A44"/>
                </a:solidFill>
                <a:latin typeface="Calibri"/>
              </a:rPr>
              <a:t>-Ready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30"/>
                </a:solidFill>
                <a:latin typeface="Calibri"/>
              </a:rPr>
              <a:t>Raw CSVs cannot support live broadcast use, real-time filtering, or anchor-friendly views.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16768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16768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16768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2230"/>
                </a:solidFill>
                <a:latin typeface="Calibri"/>
              </a:rPr>
              <a:t>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44784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44"/>
                </a:solidFill>
                <a:latin typeface="Calibri"/>
              </a:rPr>
              <a:t>No Unified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2340864"/>
            <a:ext cx="296265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230"/>
                </a:solidFill>
                <a:latin typeface="Calibri"/>
              </a:rPr>
              <a:t>Cross-analysis of L</a:t>
            </a:r>
            <a:r>
              <a:rPr lang="en-IN" sz="1400" b="0" i="0" dirty="0">
                <a:solidFill>
                  <a:srgbClr val="1A2230"/>
                </a:solidFill>
                <a:latin typeface="Calibri"/>
              </a:rPr>
              <a:t>ok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S</a:t>
            </a:r>
            <a:r>
              <a:rPr lang="en-IN" sz="1400" b="0" i="0" dirty="0" err="1">
                <a:solidFill>
                  <a:srgbClr val="1A2230"/>
                </a:solidFill>
                <a:latin typeface="Calibri"/>
              </a:rPr>
              <a:t>abha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 + V</a:t>
            </a:r>
            <a:r>
              <a:rPr lang="en-IN" sz="1400" b="0" i="0" dirty="0" err="1">
                <a:solidFill>
                  <a:srgbClr val="1A2230"/>
                </a:solidFill>
                <a:latin typeface="Calibri"/>
              </a:rPr>
              <a:t>idhan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S</a:t>
            </a:r>
            <a:r>
              <a:rPr lang="en-IN" sz="1400" b="0" i="0" dirty="0" err="1">
                <a:solidFill>
                  <a:srgbClr val="1A2230"/>
                </a:solidFill>
                <a:latin typeface="Calibri"/>
              </a:rPr>
              <a:t>abha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 + </a:t>
            </a:r>
            <a:r>
              <a:rPr sz="1400" b="0" i="0" dirty="0" err="1">
                <a:solidFill>
                  <a:srgbClr val="1A2230"/>
                </a:solidFill>
                <a:latin typeface="Calibri"/>
              </a:rPr>
              <a:t>Bypoll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 is impossible without consolidation into one model.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30368"/>
            <a:ext cx="13716000" cy="960120"/>
          </a:xfrm>
          <a:prstGeom prst="rect">
            <a:avLst/>
          </a:prstGeom>
          <a:solidFill>
            <a:srgbClr val="0A1A44"/>
          </a:solidFill>
          <a:ln w="1905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5230368"/>
            <a:ext cx="82296" cy="9601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5321808"/>
            <a:ext cx="1335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7CC"/>
                </a:solidFill>
                <a:latin typeface="Calibri"/>
              </a:rPr>
              <a:t>GOAL:  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Build a unified election analytics system that enables fast, accurate insights for media teams — covering all 36 states, all election types, 1951 to 2025.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137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0077CC"/>
                </a:solidFill>
                <a:latin typeface="Calibri"/>
              </a:rPr>
              <a:t>Raw election data → Broken.  We turned it into a unified analytics system.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System Architecture </a:t>
            </a:r>
            <a:r>
              <a:rPr lang="en-IN" dirty="0"/>
              <a:t>-</a:t>
            </a:r>
            <a:r>
              <a:rPr dirty="0"/>
              <a:t> Election Analytics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01168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ECI Portal</a:t>
            </a:r>
            <a:br/>
            <a:r>
              <a:t>(eci.gov.in)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201168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State Election</a:t>
            </a:r>
            <a:br/>
            <a:r>
              <a:t>Commissions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201168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Historical</a:t>
            </a:r>
            <a:br/>
            <a:r>
              <a:t>Archives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9312" y="210312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sosceles Triangle 8"/>
          <p:cNvSpPr/>
          <p:nvPr/>
        </p:nvSpPr>
        <p:spPr>
          <a:xfrm>
            <a:off x="3566160" y="2377439"/>
            <a:ext cx="182880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DATA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219456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Data Cleaning</a:t>
            </a:r>
            <a:br/>
            <a:r>
              <a:t>&amp; Pre-processing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410712"/>
            <a:ext cx="32004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5400000">
            <a:off x="2999232" y="3337560"/>
            <a:ext cx="201168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46120" y="3017520"/>
            <a:ext cx="219456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Standardization</a:t>
            </a:r>
            <a:br/>
            <a:r>
              <a:t>(14-col Schema)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3410712"/>
            <a:ext cx="32004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5"/>
          <p:cNvSpPr/>
          <p:nvPr/>
        </p:nvSpPr>
        <p:spPr>
          <a:xfrm rot="5400000">
            <a:off x="5788152" y="3337560"/>
            <a:ext cx="201168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35040" y="3017520"/>
            <a:ext cx="237744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Party Name</a:t>
            </a:r>
            <a:br/>
            <a:r>
              <a:t>Normalization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93192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18"/>
          <p:cNvSpPr/>
          <p:nvPr/>
        </p:nvSpPr>
        <p:spPr>
          <a:xfrm>
            <a:off x="4206240" y="4206240"/>
            <a:ext cx="182880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20"/>
            <a:ext cx="274320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Merge 36 States</a:t>
            </a:r>
            <a:br/>
            <a:r>
              <a:t>+ Bypoll + LS/VS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5239512"/>
            <a:ext cx="32004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5400000">
            <a:off x="3547871" y="5166360"/>
            <a:ext cx="201168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840480" y="4846320"/>
            <a:ext cx="274320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Master Dataset</a:t>
            </a:r>
            <a:br/>
            <a:r>
              <a:t>(CSV)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02352" y="576072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/>
          <p:cNvSpPr/>
          <p:nvPr/>
        </p:nvSpPr>
        <p:spPr>
          <a:xfrm>
            <a:off x="5029200" y="6035040"/>
            <a:ext cx="182880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309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ANALYTICS LAYER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675120"/>
            <a:ext cx="256032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Power BI</a:t>
            </a:r>
            <a:br/>
            <a:r>
              <a:t>Data Model</a:t>
            </a:r>
            <a:br/>
            <a:r>
              <a:t>(Star Schema)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DASHBOARD OUTPUTS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1371600"/>
            <a:ext cx="4114800" cy="594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M2: Historical Trends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2148840"/>
            <a:ext cx="4114800" cy="594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M3: Real-Time Results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2926080"/>
            <a:ext cx="4114800" cy="594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M4: Turnout &amp; Demographics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3703320"/>
            <a:ext cx="4114800" cy="594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M5: Party &amp; Candidate Tracker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7068312"/>
            <a:ext cx="534924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Isosceles Triangle 34"/>
          <p:cNvSpPr/>
          <p:nvPr/>
        </p:nvSpPr>
        <p:spPr>
          <a:xfrm rot="5400000">
            <a:off x="8394192" y="6995160"/>
            <a:ext cx="201168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0" y="7223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BBBBBB"/>
                </a:solidFill>
                <a:latin typeface="Segoe UI"/>
              </a:defRPr>
            </a:pPr>
            <a:r>
              <a:t>Feeds into all dashboards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FINAL OUTPUTS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5120640"/>
            <a:ext cx="192024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📁 Master</a:t>
            </a:r>
            <a:br/>
            <a:r>
              <a:t>Dataset CSV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89920" y="5120640"/>
            <a:ext cx="192024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📊 Power BI</a:t>
            </a:r>
            <a:br/>
            <a:r>
              <a:t>Report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5943600"/>
            <a:ext cx="192024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📄 Final PPT</a:t>
            </a:r>
            <a:br/>
            <a:r>
              <a:t>Report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89920" y="5943600"/>
            <a:ext cx="192024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🗂️ GitHub</a:t>
            </a:r>
            <a:br/>
            <a:r>
              <a:t>Repository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6858000"/>
            <a:ext cx="411480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📺 Media Insights / Analysis Outputs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7726679"/>
            <a:ext cx="13716000" cy="137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7772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BBBBBB"/>
                </a:solidFill>
                <a:latin typeface="Segoe UI"/>
              </a:defRPr>
            </a:pPr>
            <a:r>
              <a:t>ElectViz: Election Data Visualization for Media  ·  Infosys Springboard  ·  February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BBBBBB"/>
                </a:solidFill>
                <a:latin typeface="Segoe UI"/>
              </a:defRPr>
            </a:pPr>
            <a:r>
              <a:t>3/18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End-to-end scope of what this project delivers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6625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6625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936349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36353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6353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Data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4641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Combine election datasets for 36 States + UTs into one master model with standardised schema.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88113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88113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76071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97841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7841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Multi-Type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6129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Integrate Lok Sabha + Vidhan Sabha + Bypoll elections into a single unified pipeline.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9601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9601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37559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9329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9329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Power BI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7617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Build 5 interactive, filterable dashboard pages for full election coverage analysis.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11089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111089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220820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20817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0817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Trend &amp;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39105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Analyse party trends, turnout, demographics across all elections from 1951 to 2025.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230368"/>
            <a:ext cx="13789152" cy="248716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1480" y="5230368"/>
            <a:ext cx="13789152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53218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CC"/>
                </a:solidFill>
                <a:latin typeface="Calibri"/>
              </a:rPr>
              <a:t>Project Deliverables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4360" y="5669280"/>
            <a:ext cx="64008" cy="178308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8952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77CC"/>
                </a:solidFill>
                <a:latin typeface="Calibri"/>
              </a:rPr>
              <a:t>Master Dataset 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" y="6089904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708096"/>
                </a:solidFill>
                <a:latin typeface="Calibri"/>
              </a:rPr>
              <a:t>Unified 36-state cleaned dataset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95928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995928" y="5669280"/>
            <a:ext cx="64008" cy="1783080"/>
          </a:xfrm>
          <a:prstGeom prst="rect">
            <a:avLst/>
          </a:prstGeom>
          <a:solidFill>
            <a:srgbClr val="277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60520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776BF"/>
                </a:solidFill>
                <a:latin typeface="Calibri"/>
              </a:rPr>
              <a:t>Power BI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6089904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708096"/>
                </a:solidFill>
                <a:latin typeface="Calibri"/>
              </a:rPr>
              <a:t>5 interactive pages, full drill-down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97496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97496" y="5669280"/>
            <a:ext cx="64008" cy="1783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62088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7AE60"/>
                </a:solidFill>
                <a:latin typeface="Calibri"/>
              </a:rPr>
              <a:t>Final PPT Report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6089904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708096"/>
                </a:solidFill>
                <a:latin typeface="Calibri"/>
              </a:rPr>
              <a:t>16-slide trial + final versions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99064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799064" y="5669280"/>
            <a:ext cx="64008" cy="1783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963656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8E44AD"/>
                </a:solidFill>
                <a:latin typeface="Calibri"/>
              </a:rPr>
              <a:t>GitHub </a:t>
            </a:r>
            <a:r>
              <a:rPr lang="en-IN" sz="1600" b="1" i="0" dirty="0">
                <a:solidFill>
                  <a:srgbClr val="8E44AD"/>
                </a:solidFill>
                <a:latin typeface="Calibri"/>
              </a:rPr>
              <a:t>Repository</a:t>
            </a:r>
            <a:endParaRPr sz="1600" b="1" i="0" dirty="0">
              <a:solidFill>
                <a:srgbClr val="8E44AD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963656" y="6089904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708096"/>
                </a:solidFill>
                <a:latin typeface="Calibri"/>
              </a:rPr>
              <a:t>All scripts, data, docs committed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Modules Overview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5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Each milestone maps to an interactive Power BI dashboard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" y="1234440"/>
            <a:ext cx="2633472" cy="640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" y="1353312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Data Integration
&amp;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Merge + clean 36-state master dataset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4952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63824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63824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73552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73552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Historical Trends
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Year-wise trends, seat distribution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3552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3552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Demo 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25312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25312" y="1234440"/>
            <a:ext cx="263347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1353312"/>
            <a:ext cx="502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Real-Time Results
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Live-style tally, swing seat alerts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251960"/>
            <a:ext cx="2414016" cy="2926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🔧 Prototype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7928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86800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796528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96528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6528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Turnout &amp;
Demographics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Gender, category, urban/rural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96528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796528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Demo Ready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29416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48288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1448288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1558016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558016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58016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Party &amp; Candidate
Performance Tracker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558016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Margins, dominance, re-elections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558016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558016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Demo Ready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Project Milestones </a:t>
            </a:r>
            <a:r>
              <a:rPr lang="en-IN" dirty="0"/>
              <a:t>-</a:t>
            </a:r>
            <a:r>
              <a:rPr dirty="0"/>
              <a:t> Timeline &amp;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8720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Integration</a:t>
            </a:r>
            <a:br/>
            <a:r>
              <a:t>&amp;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1-2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14-column schema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36-state data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Party name standardization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79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977639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Historical Trends</a:t>
            </a:r>
            <a:br/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3-4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39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Trend analysis visuals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State-wise comparisons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Year-over-year 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66560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Real-Time Results</a:t>
            </a:r>
            <a:br/>
            <a: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5-6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Live results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Seat tally 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Leading candidate tracker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555480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Turnout &amp;</a:t>
            </a:r>
            <a:br/>
            <a:r>
              <a:t>Demographics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7-8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Voter turnout maps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Urban vs Rural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Demographic overlays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21440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344400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5860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Party &amp; Candidate</a:t>
            </a:r>
            <a:br/>
            <a:r>
              <a:t>Tracker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5860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9-10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7200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0432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Performance tracker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Party 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Candidate win records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7726679"/>
            <a:ext cx="13716000" cy="137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7772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BBBBBB"/>
                </a:solidFill>
                <a:latin typeface="Segoe UI"/>
              </a:defRPr>
            </a:pPr>
            <a:r>
              <a:t>ElectViz: Election Data Visualization for Media  ·  Infosys Springboard  ·  February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BBBBBB"/>
                </a:solidFill>
                <a:latin typeface="Segoe UI"/>
              </a:defRPr>
            </a:pPr>
            <a:r>
              <a:t>6/18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1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Data Integration &amp;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Merging, cleaning, and standardising 36 state datasets into one master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806440" cy="65379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6537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5605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Completed — What Was 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1664208"/>
            <a:ext cx="5248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dirty="0">
                <a:solidFill>
                  <a:srgbClr val="1A2230"/>
                </a:solidFill>
                <a:latin typeface="Calibri"/>
              </a:rPr>
              <a:t>36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of 36 states merged  ·  1</a:t>
            </a:r>
            <a:r>
              <a:rPr lang="en-IN" sz="1200" b="0" i="0" dirty="0">
                <a:solidFill>
                  <a:srgbClr val="1A2230"/>
                </a:solidFill>
                <a:latin typeface="Calibri"/>
              </a:rPr>
              <a:t>1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by Hamiz, 10 by Karishma, </a:t>
            </a:r>
            <a:r>
              <a:rPr lang="en-IN" sz="1200" b="0" i="0" dirty="0">
                <a:solidFill>
                  <a:srgbClr val="1A2230"/>
                </a:solidFill>
                <a:latin typeface="Calibri"/>
              </a:rPr>
              <a:t>15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by others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3408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231136"/>
            <a:ext cx="5248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230"/>
                </a:solidFill>
                <a:latin typeface="Calibri"/>
              </a:rPr>
              <a:t>LS + VS + </a:t>
            </a:r>
            <a:r>
              <a:rPr sz="1200" b="0" i="0" dirty="0" err="1">
                <a:solidFill>
                  <a:srgbClr val="1A2230"/>
                </a:solidFill>
                <a:latin typeface="Calibri"/>
              </a:rPr>
              <a:t>Bypoll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integration started </a:t>
            </a:r>
            <a:r>
              <a:rPr lang="en-IN" sz="1200" dirty="0">
                <a:solidFill>
                  <a:srgbClr val="1A2230"/>
                </a:solidFill>
                <a:latin typeface="Calibri"/>
              </a:rPr>
              <a:t>,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all three types in one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9077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798064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200+ party abbreviations expanded to full standardised names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381317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230"/>
                </a:solidFill>
                <a:latin typeface="Calibri"/>
              </a:rPr>
              <a:t>Master CSV: 27,415 records · 14 standard columns · ready for Power 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26187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92240" y="1261872"/>
            <a:ext cx="64008" cy="7498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38544" y="1316736"/>
            <a:ext cx="3639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77CC"/>
                </a:solidFill>
                <a:latin typeface="Calibri"/>
              </a:rPr>
              <a:t>55</a:t>
            </a:r>
            <a:r>
              <a:rPr sz="2400" b="1" i="0" dirty="0">
                <a:solidFill>
                  <a:srgbClr val="0077CC"/>
                </a:solidFill>
                <a:latin typeface="Calibri"/>
              </a:rPr>
              <a:t>,</a:t>
            </a:r>
            <a:r>
              <a:rPr lang="en-IN" sz="2400" b="1" i="0" dirty="0">
                <a:solidFill>
                  <a:srgbClr val="0077CC"/>
                </a:solidFill>
                <a:latin typeface="Calibri"/>
              </a:rPr>
              <a:t>646</a:t>
            </a:r>
            <a:endParaRPr sz="2400" b="1" i="0" dirty="0">
              <a:solidFill>
                <a:srgbClr val="0077CC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38544" y="170078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Total Records in Master 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126187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515600" y="1261872"/>
            <a:ext cx="64008" cy="7498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61904" y="1316736"/>
            <a:ext cx="3639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77CC"/>
                </a:solidFill>
                <a:latin typeface="Calibri"/>
              </a:rPr>
              <a:t>36</a:t>
            </a:r>
            <a:r>
              <a:rPr sz="2400" b="1" i="0" dirty="0">
                <a:solidFill>
                  <a:srgbClr val="0077CC"/>
                </a:solidFill>
                <a:latin typeface="Calibri"/>
              </a:rPr>
              <a:t> / 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61904" y="170078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States Merged (Phase 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13055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92240" y="2130552"/>
            <a:ext cx="64008" cy="74980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38544" y="2185416"/>
            <a:ext cx="3639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276BBF"/>
                </a:solidFill>
                <a:latin typeface="Calibri"/>
              </a:rPr>
              <a:t>1009</a:t>
            </a:r>
            <a:endParaRPr sz="2400" b="1" i="0" dirty="0">
              <a:solidFill>
                <a:srgbClr val="276BBF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38544" y="256946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Bypoll Records Integrated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0" y="213055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515600" y="2130552"/>
            <a:ext cx="64008" cy="74980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61904" y="218541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76BBF"/>
                </a:solidFill>
                <a:latin typeface="Calibri"/>
              </a:rPr>
              <a:t>194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1904" y="256946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Unique Party Codes Standardised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99923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92240" y="2999232"/>
            <a:ext cx="64008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38544" y="3054096"/>
            <a:ext cx="3639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7AE60"/>
                </a:solidFill>
                <a:latin typeface="Calibri"/>
              </a:rPr>
              <a:t>1951</a:t>
            </a:r>
            <a:r>
              <a:rPr lang="en-IN" sz="2400" b="1" i="0" dirty="0">
                <a:solidFill>
                  <a:srgbClr val="27AE60"/>
                </a:solidFill>
                <a:latin typeface="Calibri"/>
              </a:rPr>
              <a:t>-</a:t>
            </a:r>
            <a:r>
              <a:rPr sz="2400" b="1" i="0" dirty="0">
                <a:solidFill>
                  <a:srgbClr val="27AE60"/>
                </a:solidFill>
                <a:latin typeface="Calibri"/>
              </a:rPr>
              <a:t>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343814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Election Year Range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0" y="299923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515600" y="2999232"/>
            <a:ext cx="64008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661904" y="305409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AE60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1904" y="343814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Election Types Covered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977639"/>
            <a:ext cx="7818120" cy="3794760"/>
          </a:xfrm>
          <a:prstGeom prst="rect">
            <a:avLst/>
          </a:prstGeom>
          <a:solidFill>
            <a:srgbClr val="0A1A44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1" name="Rectangle 50"/>
          <p:cNvSpPr/>
          <p:nvPr/>
        </p:nvSpPr>
        <p:spPr>
          <a:xfrm>
            <a:off x="6492240" y="3977639"/>
            <a:ext cx="82296" cy="379476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D0E8891-BDF3-E3A8-09AD-90564B7C7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1" y="3776473"/>
            <a:ext cx="13956891" cy="42519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2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Historical Trends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Year-wise election trends · Party seat performance · Constituency result patterns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Year-wise election trends from 1951 to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311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21408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Party-wise seat performance over every decade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0662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596896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Constituency result patterns with drill-down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072384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Interactive YEAR slicer and STATE filter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547872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Vote trend line chart across elections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330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02336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Decade comparison: Lok Sabha vs Vidhan Sabha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Historical Trends Dashboard  ·  Party Performance by 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[ See dashboard image → 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28032" y="1691640"/>
            <a:ext cx="1051560" cy="4956048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0" y="174650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YEAR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2002536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73752" y="203911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1952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2350008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73752" y="238658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1962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697480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73752" y="2734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1977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044952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73752" y="308152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1984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3392424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73752" y="342900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1991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739896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73752" y="377647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4087368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73752" y="412394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2009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4434840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73752" y="447141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4782312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73752" y="481888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2019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5129784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73752" y="516636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2024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1888" y="1709928"/>
            <a:ext cx="8092440" cy="32004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35040" y="1764792"/>
            <a:ext cx="9418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PARTY WINS — TOP 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20025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Indian National Congress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73568" y="2050084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973568" y="2050084"/>
            <a:ext cx="6217920" cy="142646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35040" y="22951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73568" y="2342692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73568" y="2342692"/>
            <a:ext cx="3098094" cy="14264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117382" y="229514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4,990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258775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73568" y="2635300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973568" y="2635300"/>
            <a:ext cx="921357" cy="142646"/>
          </a:xfrm>
          <a:prstGeom prst="rect">
            <a:avLst/>
          </a:prstGeom>
          <a:solidFill>
            <a:srgbClr val="70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40645" y="258775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1,484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5040" y="288036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73568" y="2927908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973568" y="2927908"/>
            <a:ext cx="900248" cy="14264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919536" y="288036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1,450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31729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73568" y="3220516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973568" y="3220516"/>
            <a:ext cx="62334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42632" y="317296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1,004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346557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73568" y="3513124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973568" y="3513124"/>
            <a:ext cx="485513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504801" y="346557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0" y="375818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73568" y="3805732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973568" y="3805732"/>
            <a:ext cx="330918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0206" y="375818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61888" y="5001768"/>
            <a:ext cx="8092440" cy="157276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35040" y="5056632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WINNING VOTE TRENDS ACROSS ELECTIONS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helps anchors analyse historical swing seats and track how dominant parties rose or fell across decades.</a:t>
            </a:r>
          </a:p>
        </p:txBody>
      </p:sp>
      <p:pic>
        <p:nvPicPr>
          <p:cNvPr id="7" name="Picture 6" descr="M2 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884" y="1248156"/>
            <a:ext cx="9474036" cy="54596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3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Real-Time Results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Live-style seat tally · Vote % bars · Party filters · Swing seat identification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🔧  Prototype Stage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Live-style seat count updates as results arrive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31136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21408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Vote percentage bars per constituency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06624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596896"/>
            <a:ext cx="3675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230"/>
                </a:solidFill>
                <a:latin typeface="Calibri"/>
              </a:rPr>
              <a:t>Party filter slicers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072384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Swing seat identification (close margins highlighted)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547872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Colour-coded leading / trailing party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3308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023360"/>
            <a:ext cx="3675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0" i="0" dirty="0">
                <a:solidFill>
                  <a:srgbClr val="1A2230"/>
                </a:solidFill>
                <a:latin typeface="Calibri"/>
              </a:rPr>
              <a:t>State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-level tally card </a:t>
            </a:r>
            <a:r>
              <a:rPr lang="en-IN" sz="1200" b="0" i="0" dirty="0">
                <a:solidFill>
                  <a:srgbClr val="1A2230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instant overview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LIVE RESULT TRACKER  ·  Party Seat Tally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[ See dashboard image → 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64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7CC"/>
                </a:solidFill>
                <a:latin typeface="Calibri"/>
              </a:rPr>
              <a:t>543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Total Seats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0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50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272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Majority Mark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36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36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  <a:latin typeface="Calibri"/>
              </a:rPr>
              <a:t>INC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36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722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22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22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2nd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2514600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892040" y="2514600"/>
            <a:ext cx="5220331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6048" y="25786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Indian National Congress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0" y="2578608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92040" y="2935224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892040" y="2935224"/>
            <a:ext cx="3367955" cy="32918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56048" y="29992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Bharatiya Janata Party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0" y="299923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200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3355848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892040" y="3355848"/>
            <a:ext cx="555712" cy="32918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956048" y="34198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Regional / Others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0" y="3419856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64608" y="3840480"/>
            <a:ext cx="9198864" cy="276148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956048" y="390448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RESULT DETAILS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01184" y="41605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State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64224" y="41605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84464" y="41605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Leading Candidate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41605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Party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73584" y="416052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Margin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64608" y="4398264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01184" y="441655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Andhra Pradesh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64224" y="44165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Ongole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84464" y="4416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Maganti 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70464" y="44165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TDP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673584" y="4416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12,450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64608" y="4645152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01184" y="46634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Bihar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64224" y="466344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Patna Sahib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84464" y="46634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R S Prasad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70464" y="4663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673584" y="46634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95,210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64608" y="4892040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01184" y="49103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Delhi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64224" y="49103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New Delhi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84464" y="49103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Meenakshi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70464" y="49103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673584" y="49103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78,300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64608" y="5138928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01184" y="515721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Gujarat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4224" y="51572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Gandhinagar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84464" y="51572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Amit Shah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70464" y="51572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673584" y="515721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557,014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64608" y="5385816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901184" y="540410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64224" y="54041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Indore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84464" y="54041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K Vijayvargiya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70464" y="540410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673584" y="540410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1,043,000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lets anchors stream live constituency results, spotlight swing seats, and filter by party or state on air.</a:t>
            </a:r>
          </a:p>
        </p:txBody>
      </p:sp>
      <p:pic>
        <p:nvPicPr>
          <p:cNvPr id="98" name="Picture 97" descr="M3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43584"/>
            <a:ext cx="9464040" cy="5519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4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Turnout &amp; Demographics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Gender · Category · State turnout · Urban vs Rural classification (in progress)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Gender winners: Male 94.4%  ·  Female 5.6%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4942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39696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Category split: General 74% · ST 15% · SC 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633472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State-wise average voter turnout mapped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369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127248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Top 10 constituencies by turnout identified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307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21024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Decade-wise participation trend chart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4160520" cy="214884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64008" cy="2148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64515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🔧  In Progress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09320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4983480"/>
            <a:ext cx="36758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Urban vs Rural tagging using Census 2011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59612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5486400"/>
            <a:ext cx="36758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Cross-filter with party performance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VOTER TURNOUT &amp; DEMOGRAPHICS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[ See dashboard image → 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155680" y="1709928"/>
            <a:ext cx="28803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155680" y="1874520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77CC"/>
                </a:solidFill>
                <a:latin typeface="Calibri"/>
              </a:rPr>
              <a:t>30.03%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25603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08096"/>
                </a:solidFill>
                <a:latin typeface="Calibri"/>
              </a:rPr>
              <a:t>Average Voter Turnout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2862072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Highest: Tripura  59.6%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1709928"/>
            <a:ext cx="274320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83480" y="17830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GENDER DISTRIBUTION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2093976"/>
            <a:ext cx="2423160" cy="2011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16663" y="2093976"/>
            <a:ext cx="135696" cy="2011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0" y="2350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6BBF"/>
                </a:solidFill>
                <a:latin typeface="Calibri"/>
              </a:rPr>
              <a:t>Male 94.4%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3500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6BBF"/>
                </a:solidFill>
                <a:latin typeface="Calibri"/>
              </a:rPr>
              <a:t>25,885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26243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9B4"/>
                </a:solidFill>
                <a:latin typeface="Calibri"/>
              </a:rPr>
              <a:t>Female 5.6%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6243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9B4"/>
                </a:solidFill>
                <a:latin typeface="Calibri"/>
              </a:rPr>
              <a:t> 1,530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1709928"/>
            <a:ext cx="33375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09560" y="1783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CATEGORY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205740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General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2112264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823960" y="2112264"/>
            <a:ext cx="1252733" cy="1097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561320" y="205740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20,302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245973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23960" y="2514600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823960" y="2514600"/>
            <a:ext cx="260888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561320" y="24597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4,228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286207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SC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23960" y="2916936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823960" y="2916936"/>
            <a:ext cx="170984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561320" y="286207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2,771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64608" y="3566160"/>
            <a:ext cx="9198864" cy="303580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56048" y="36301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AVG TURNOUT % BY STATE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91836" y="4767337"/>
            <a:ext cx="543153" cy="1496303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5604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Tripura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97092" y="4784911"/>
            <a:ext cx="543153" cy="1478729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86130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Delhi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2348" y="4882823"/>
            <a:ext cx="543153" cy="1380817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76656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Goa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07604" y="4940567"/>
            <a:ext cx="543153" cy="1323073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7181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12860" y="5083669"/>
            <a:ext cx="543153" cy="1179971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57707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Maha.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18116" y="5226772"/>
            <a:ext cx="543153" cy="10368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48232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Bihar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23372" y="5372386"/>
            <a:ext cx="543153" cy="89125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38758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Megh.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28628" y="5455235"/>
            <a:ext cx="543153" cy="808405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29284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Arunachal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333884" y="5533063"/>
            <a:ext cx="543153" cy="730577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219809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239140" y="5701271"/>
            <a:ext cx="543153" cy="562369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310335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J&amp;K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reveals which states and constituencies have the lowest turnout — critical for newsroom-produced voter engagement stories.</a:t>
            </a:r>
          </a:p>
        </p:txBody>
      </p:sp>
      <p:pic>
        <p:nvPicPr>
          <p:cNvPr id="90" name="Picture 89" descr="M4 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39"/>
            <a:ext cx="9418320" cy="5475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5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Party &amp; Candidate Performance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State dominance · Win margins · Candidate re-elections · Alliance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 in Demo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64208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State-wise party dominance mapping and heatmap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677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57984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Top 10 winning candidates by vote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614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65176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Win/loss margin analysis per constituency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552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145536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Candidate re-election performance tracker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490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39312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Alliance-level seat tally insights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736592"/>
            <a:ext cx="64008" cy="47548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077CC"/>
                </a:solidFill>
                <a:latin typeface="Calibri"/>
              </a:rPr>
              <a:t>INC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10,015 wins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06040" y="4736592"/>
            <a:ext cx="64008" cy="47548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234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5234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4,990 wins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5303520"/>
            <a:ext cx="64008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TDP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1,450 wins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06040" y="5303520"/>
            <a:ext cx="64008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5234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  <a:latin typeface="Calibri"/>
              </a:rPr>
              <a:t>INC(I)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1,004 wins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PARTY &amp; CANDIDATE PERFORMANCE  ·  Top Wins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[ See dashboard image → 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1709928"/>
            <a:ext cx="9144000" cy="3182112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65192" y="1764792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10 PARTIES BY ALL-TIME WINS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65192" y="20208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Indian National Congress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206837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903720" y="2068372"/>
            <a:ext cx="6594566" cy="1810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473684" y="204237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708096"/>
                </a:solidFill>
                <a:latin typeface="Calibri"/>
              </a:rPr>
              <a:t>10,015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65192" y="231343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03720" y="236098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03720" y="2360980"/>
            <a:ext cx="3553697" cy="14264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03137" y="231343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4,990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65192" y="2606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03720" y="265358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903720" y="2653588"/>
            <a:ext cx="1056851" cy="142646"/>
          </a:xfrm>
          <a:prstGeom prst="rect">
            <a:avLst/>
          </a:prstGeom>
          <a:solidFill>
            <a:srgbClr val="70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06291" y="260604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1,484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65192" y="28986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 Party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03720" y="294619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903720" y="2946196"/>
            <a:ext cx="1032637" cy="14264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982077" y="289864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65192" y="31912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03720" y="323880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903720" y="3238804"/>
            <a:ext cx="715012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664452" y="319125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1,004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65192" y="34838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3720" y="353141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903720" y="3531412"/>
            <a:ext cx="556912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06352" y="348386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65192" y="37764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RJD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03720" y="382402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903720" y="3824020"/>
            <a:ext cx="404509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53949" y="377647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568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65192" y="40690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03720" y="411662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903720" y="4116628"/>
            <a:ext cx="379583" cy="14264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329023" y="406908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65192" y="4361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Dal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03720" y="440923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903720" y="4409236"/>
            <a:ext cx="37673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326174" y="43616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529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65192" y="46542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Shiv Sena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03720" y="470184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903720" y="4701844"/>
            <a:ext cx="335429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284869" y="465429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471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92040" y="4946903"/>
            <a:ext cx="9144000" cy="1664209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965192" y="50017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CANDIDATES BY VOTES RECEIVED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37760" y="5257800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983480" y="5276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Kailash Vijayvargiya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75320" y="52760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38360" y="52760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1,734,313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5504688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983480" y="55229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Yogender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75320" y="55229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38360" y="55229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1,480,000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7760" y="5751576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983480" y="57698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Sushma Swaraj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75320" y="57698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38360" y="5769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1,120,000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37760" y="5998464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983480" y="60167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Rajnath Singh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75320" y="6016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38360" y="6016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932,000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94360" y="6967728"/>
            <a:ext cx="1344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1A44"/>
                </a:solidFill>
                <a:latin typeface="Calibri"/>
              </a:rPr>
              <a:t>  This page shows which parties dominate which states and which candidates attract the most votes </a:t>
            </a:r>
            <a:r>
              <a:rPr lang="en-IN" sz="1100" b="0" i="0" dirty="0">
                <a:solidFill>
                  <a:srgbClr val="0A1A44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0A1A44"/>
                </a:solidFill>
                <a:latin typeface="Calibri"/>
              </a:rPr>
              <a:t> perfect for election night analysis.</a:t>
            </a:r>
          </a:p>
        </p:txBody>
      </p:sp>
      <p:pic>
        <p:nvPicPr>
          <p:cNvPr id="111" name="Picture 110" descr="M5 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13322"/>
            <a:ext cx="9418320" cy="5541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Urban vs Rural Constituency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Census 2011 Urban-Rural Population Table · Metro, Semi-urban, Village seat tagging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13716000" cy="566928"/>
          </a:xfrm>
          <a:prstGeom prst="rect">
            <a:avLst/>
          </a:prstGeom>
          <a:solidFill>
            <a:srgbClr val="0A1A44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82296" cy="5669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1335024"/>
            <a:ext cx="1335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Method: Map each constituency's district to Census 2011 U-R population ratio  ·  Urban ≥60%  ·  Rural &lt;30%  ·  Semi-Urban in between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1938528"/>
            <a:ext cx="4370832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CC"/>
                </a:solidFill>
                <a:latin typeface="Calibri"/>
              </a:rPr>
              <a:t>Urban Constituencies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≥60% urban population
Covers: Delhi, Mumbai, Hyderabad, Bengaluru,
Kolkata, Chennai and metro areas
Higher turnout · Multi-party competition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0912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10912" y="1938528"/>
            <a:ext cx="4370832" cy="5486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38928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🏘️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BBF"/>
                </a:solidFill>
                <a:latin typeface="Calibri"/>
              </a:rPr>
              <a:t>Semi-Urban Constituencies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30–60% urban population
Mainly tier-2 cities and district HQs
Classic swing seats — competitive across parties
Often decide state-level majorities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64624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64624" y="1938528"/>
            <a:ext cx="437083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Rural Constituencies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&lt;30% urban population
Village-dominant, common in SC/ST reserved seats
Strong regional and single-party dominance
Lower turnout variation year on year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49240"/>
            <a:ext cx="13716000" cy="2212848"/>
          </a:xfrm>
          <a:prstGeom prst="rect">
            <a:avLst/>
          </a:prstGeom>
          <a:solidFill>
            <a:srgbClr val="F0F4F8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349240"/>
            <a:ext cx="82296" cy="22128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422392"/>
            <a:ext cx="1335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44"/>
                </a:solidFill>
                <a:latin typeface="Calibri"/>
              </a:rPr>
              <a:t>Real Examples from Census 2011: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64008" cy="14813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7CC"/>
                </a:solidFill>
                <a:latin typeface="Calibri"/>
              </a:rPr>
              <a:t>Delhi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97.5% urban urban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All 70 Vidhan Sabha constituencies tagged URBAN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212080" y="5806440"/>
            <a:ext cx="64008" cy="1481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76672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Bihar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6672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11.3% urban urban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76672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Majority constituencies tagged RURAL-dominant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65792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765792" y="5806440"/>
            <a:ext cx="64008" cy="148132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30384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BBF"/>
                </a:solidFill>
                <a:latin typeface="Calibri"/>
              </a:rPr>
              <a:t>Maharashtra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0384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45.2% urban urban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30384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Mix of Urban (Mumbai) + Rural (Vidarbha) + Semi-Urban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Team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Individual contributions and role assignments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53312" y="1399032"/>
            <a:ext cx="731520" cy="731520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A1A44"/>
                </a:solidFill>
                <a:latin typeface="Calibri"/>
              </a:rPr>
              <a:t>Hamiz</a:t>
            </a:r>
            <a:r>
              <a:rPr lang="en-IN" sz="1400" b="1" i="0" dirty="0">
                <a:solidFill>
                  <a:srgbClr val="0A1A44"/>
                </a:solidFill>
                <a:latin typeface="Calibri"/>
              </a:rPr>
              <a:t> K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Team Lead</a:t>
            </a:r>
            <a:r>
              <a:rPr lang="en-IN" sz="900" b="1" i="0" dirty="0">
                <a:solidFill>
                  <a:srgbClr val="FFFFFF"/>
                </a:solidFill>
                <a:latin typeface="Calibri"/>
              </a:rPr>
              <a:t> &amp; Data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0352" y="3026664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1</a:t>
            </a:r>
            <a:r>
              <a:rPr lang="en-IN" sz="1000" b="0" i="0" dirty="0">
                <a:solidFill>
                  <a:srgbClr val="1A2230"/>
                </a:solidFill>
                <a:latin typeface="Calibri"/>
              </a:rPr>
              <a:t>1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merged, dataset validated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465576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GitHub setup + maintenance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3904488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Power BI dashboard development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343400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PPT + final report preparation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05656" y="1399032"/>
            <a:ext cx="731520" cy="7315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05656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Karishma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82696" y="3026664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29000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10 states </a:t>
            </a:r>
            <a:r>
              <a:rPr lang="en-IN" sz="1000" b="0" i="0" dirty="0">
                <a:solidFill>
                  <a:srgbClr val="1A2230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VS completed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82696" y="3465576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29000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LS collection in progress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82696" y="3904488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29000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Bypoll data cleaning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82696" y="4343400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29000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Column mapping verification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7024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858000" y="1399032"/>
            <a:ext cx="731520" cy="731520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Vennela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81344" y="2587752"/>
            <a:ext cx="2084832" cy="237744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81344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026664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81344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dirty="0">
                <a:solidFill>
                  <a:srgbClr val="1A223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assigned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465576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81344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VS + LS data collection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3904488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81344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Bypoll for assigned states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4343400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81344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State-level QC checks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59368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610344" y="1399032"/>
            <a:ext cx="731520" cy="731520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10344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50808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Aman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87384" y="3026664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933688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dirty="0">
                <a:solidFill>
                  <a:srgbClr val="1A223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assigned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87384" y="3465576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33688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Data formatting + cleaning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87384" y="3904488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933688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A2230"/>
                </a:solidFill>
                <a:latin typeface="Calibri"/>
              </a:rPr>
              <a:t>Bypoll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data mapping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87384" y="4343400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933688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Validation reports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11712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2362688" y="1399032"/>
            <a:ext cx="731520" cy="731520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2362688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503152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Gajavadan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b="1" i="0" dirty="0">
                <a:solidFill>
                  <a:srgbClr val="FFFFFF"/>
                </a:solidFill>
                <a:latin typeface="Calibri"/>
              </a:rPr>
              <a:t>Data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1539728" y="3026664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686032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5 states assigned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539728" y="3465576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686032" y="3392424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Data formatting + cleaning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539728" y="3904488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686032" y="3831336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 err="1">
                <a:solidFill>
                  <a:srgbClr val="1A2230"/>
                </a:solidFill>
              </a:rPr>
              <a:t>Bypoll</a:t>
            </a:r>
            <a:r>
              <a:rPr lang="en-IN" sz="1000" dirty="0">
                <a:solidFill>
                  <a:srgbClr val="1A2230"/>
                </a:solidFill>
              </a:rPr>
              <a:t> data mapping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539728" y="4343400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686032" y="4270248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Validation reports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849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Issues encountered and how the team resolved them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0749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2801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234440"/>
            <a:ext cx="8503920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1280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234440"/>
            <a:ext cx="251460" cy="492736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691640"/>
            <a:ext cx="5074920" cy="1389888"/>
          </a:xfrm>
          <a:prstGeom prst="rect">
            <a:avLst/>
          </a:prstGeom>
          <a:solidFill>
            <a:srgbClr val="FFF8E8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691640"/>
            <a:ext cx="64008" cy="13898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1728216"/>
            <a:ext cx="47548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F39C12"/>
                </a:solidFill>
                <a:latin typeface="Calibri"/>
              </a:rPr>
              <a:t> BIGGEST PAIN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9659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Missing Lok Sabha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31343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7 states had no LS files in initial data package.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691640"/>
            <a:ext cx="8503920" cy="1389888"/>
          </a:xfrm>
          <a:prstGeom prst="rect">
            <a:avLst/>
          </a:prstGeom>
          <a:solidFill>
            <a:srgbClr val="F0F7FF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0" y="1691640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79008" y="1764792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Marked for Phase 2 sourcing from ECI portal; removed from demo dataset.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72968"/>
            <a:ext cx="507492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2461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Data Format Inconsistencies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59359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36 source files had different column names and encodings.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3172968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0" y="3172968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79008" y="3246120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Built global column mapping + 200+ party abbreviation dictionary applied across all files.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54296"/>
            <a:ext cx="5074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7274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Bypoll Dataset Delays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0749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Bypoll files stored separately; not integrated initially.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654296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0" y="4654295"/>
            <a:ext cx="64008" cy="150751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79008" y="4727448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Created dedicated Bypoll CSV pipeline — 346 records now validated and integrated.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96112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5256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544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2688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1832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50976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0120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92640" y="0"/>
            <a:ext cx="493776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30000" y="3200400"/>
            <a:ext cx="5943600" cy="59436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87200" y="3840480"/>
            <a:ext cx="5029200" cy="502920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43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728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920" y="713232"/>
            <a:ext cx="292608" cy="29260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828800" y="228600"/>
            <a:ext cx="182880" cy="182880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1371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Thank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359152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77CC"/>
                </a:solidFill>
                <a:latin typeface="Calibri"/>
              </a:rPr>
              <a:t>You!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401568"/>
            <a:ext cx="50292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114800"/>
            <a:ext cx="5943600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4169663"/>
            <a:ext cx="5833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🎤   We'd love to answer your questions!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1234440"/>
            <a:ext cx="4343400" cy="5120640"/>
          </a:xfrm>
          <a:prstGeom prst="rect">
            <a:avLst/>
          </a:prstGeom>
          <a:solidFill>
            <a:srgbClr val="061020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21240" y="1234440"/>
            <a:ext cx="4343400" cy="457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2680" y="129844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CC"/>
                </a:solidFill>
                <a:latin typeface="Calibri"/>
              </a:rPr>
              <a:t>PRESENTED BY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1691640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12680" y="1691640"/>
            <a:ext cx="64008" cy="6858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68128" y="17465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77CC"/>
                </a:solidFill>
                <a:latin typeface="Calibri"/>
              </a:rPr>
              <a:t>Hamiz</a:t>
            </a:r>
            <a:r>
              <a:rPr lang="en-IN" sz="1400" b="1" i="0" dirty="0">
                <a:solidFill>
                  <a:srgbClr val="0077CC"/>
                </a:solidFill>
                <a:latin typeface="Calibri"/>
              </a:rPr>
              <a:t> K</a:t>
            </a:r>
            <a:endParaRPr sz="1400" b="1" i="0" dirty="0">
              <a:solidFill>
                <a:srgbClr val="0077CC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168128" y="2075688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Team Lead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2441448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012680" y="2441448"/>
            <a:ext cx="64008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24963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Karishma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2825496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12680" y="3191256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012680" y="3191256"/>
            <a:ext cx="64008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168128" y="3246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  <a:latin typeface="Calibri"/>
              </a:rPr>
              <a:t>Vennela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8128" y="3575304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12680" y="3941064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012680" y="3941064"/>
            <a:ext cx="64008" cy="6858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68128" y="39959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5400"/>
                </a:solidFill>
                <a:latin typeface="Calibri"/>
              </a:rPr>
              <a:t>Aman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68128" y="4325112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4690872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012680" y="4690872"/>
            <a:ext cx="64008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68128" y="47457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Gajavadan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68128" y="507492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Member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5833872"/>
            <a:ext cx="14630400" cy="216712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583387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66928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📁  Master Dataset (36 States)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0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📊  Power BI Dashboard (5 Pages)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79792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571232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📄  Final PPT Report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36224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027664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🗂️  GitHub Repository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567160" y="182880"/>
            <a:ext cx="64008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1567160" y="800100"/>
            <a:ext cx="288036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1981</Words>
  <Application>Microsoft Office PowerPoint</Application>
  <PresentationFormat>Custom</PresentationFormat>
  <Paragraphs>458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Hamiz K</cp:lastModifiedBy>
  <cp:revision>31</cp:revision>
  <dcterms:created xsi:type="dcterms:W3CDTF">2013-01-27T09:14:16Z</dcterms:created>
  <dcterms:modified xsi:type="dcterms:W3CDTF">2026-03-05T10:16:57Z</dcterms:modified>
  <cp:category/>
</cp:coreProperties>
</file>